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1" r:id="rId3"/>
    <p:sldId id="258" r:id="rId4"/>
    <p:sldId id="262" r:id="rId5"/>
    <p:sldId id="263" r:id="rId6"/>
    <p:sldId id="259" r:id="rId7"/>
    <p:sldId id="260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40122-23AA-47A1-B118-399FA8FED5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Library Data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CEE238-7E3B-423C-B3F8-E92956D1D3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Solution for cleaning, analysing &amp; reporting library metrics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440608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CE3FE-B360-4CB0-B2E9-C11A5A0EB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Architecture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205BA-B7CA-4A4C-AAD4-7263FB89D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3108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3DAA3E3-E729-4AFB-8232-FB6FF83361F2}"/>
              </a:ext>
            </a:extLst>
          </p:cNvPr>
          <p:cNvSpPr txBox="1"/>
          <p:nvPr/>
        </p:nvSpPr>
        <p:spPr>
          <a:xfrm>
            <a:off x="643966" y="3120855"/>
            <a:ext cx="1021975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CSV File 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700128-A347-45D3-A5C5-14D8E71ECAC4}"/>
              </a:ext>
            </a:extLst>
          </p:cNvPr>
          <p:cNvSpPr txBox="1"/>
          <p:nvPr/>
        </p:nvSpPr>
        <p:spPr>
          <a:xfrm>
            <a:off x="3895119" y="3134255"/>
            <a:ext cx="1021975" cy="71508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Web Portal</a:t>
            </a:r>
            <a:endParaRPr lang="en-GB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D1708AF-FE99-4C94-BA52-3A3AF2EC8111}"/>
              </a:ext>
            </a:extLst>
          </p:cNvPr>
          <p:cNvCxnSpPr>
            <a:stCxn id="6" idx="3"/>
            <a:endCxn id="8" idx="1"/>
          </p:cNvCxnSpPr>
          <p:nvPr/>
        </p:nvCxnSpPr>
        <p:spPr>
          <a:xfrm>
            <a:off x="1665941" y="3478400"/>
            <a:ext cx="2229178" cy="13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AE3A527-BE91-4DD2-9E1C-C53D6FC0EC1F}"/>
              </a:ext>
            </a:extLst>
          </p:cNvPr>
          <p:cNvSpPr txBox="1"/>
          <p:nvPr/>
        </p:nvSpPr>
        <p:spPr>
          <a:xfrm>
            <a:off x="5535660" y="3134255"/>
            <a:ext cx="1730187" cy="715089"/>
          </a:xfrm>
          <a:prstGeom prst="round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Python Application</a:t>
            </a:r>
            <a:endParaRPr lang="en-GB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7B79FF9-9B9A-43FB-918B-6ACCFBBAD528}"/>
              </a:ext>
            </a:extLst>
          </p:cNvPr>
          <p:cNvCxnSpPr/>
          <p:nvPr/>
        </p:nvCxnSpPr>
        <p:spPr>
          <a:xfrm>
            <a:off x="4917094" y="3478400"/>
            <a:ext cx="6185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3B92FA9-0173-46EE-99BE-7C5F381AD369}"/>
              </a:ext>
            </a:extLst>
          </p:cNvPr>
          <p:cNvSpPr txBox="1"/>
          <p:nvPr/>
        </p:nvSpPr>
        <p:spPr>
          <a:xfrm>
            <a:off x="5721678" y="4342403"/>
            <a:ext cx="1358150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Cleaned CSV File </a:t>
            </a:r>
            <a:endParaRPr lang="en-GB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E74C7B-5166-4D44-9C4D-F6B3A49C202C}"/>
              </a:ext>
            </a:extLst>
          </p:cNvPr>
          <p:cNvCxnSpPr>
            <a:cxnSpLocks/>
            <a:stCxn id="11" idx="2"/>
            <a:endCxn id="16" idx="0"/>
          </p:cNvCxnSpPr>
          <p:nvPr/>
        </p:nvCxnSpPr>
        <p:spPr>
          <a:xfrm flipH="1">
            <a:off x="6400753" y="3849344"/>
            <a:ext cx="1" cy="4930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68D83F9B-0A39-48F1-8ABA-20985620A762}"/>
              </a:ext>
            </a:extLst>
          </p:cNvPr>
          <p:cNvCxnSpPr>
            <a:stCxn id="16" idx="1"/>
            <a:endCxn id="8" idx="2"/>
          </p:cNvCxnSpPr>
          <p:nvPr/>
        </p:nvCxnSpPr>
        <p:spPr>
          <a:xfrm rot="10800000">
            <a:off x="4406108" y="3849344"/>
            <a:ext cx="1315571" cy="850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5FB67C7-D1ED-47E0-8D0C-DF00C9A98410}"/>
              </a:ext>
            </a:extLst>
          </p:cNvPr>
          <p:cNvSpPr txBox="1"/>
          <p:nvPr/>
        </p:nvSpPr>
        <p:spPr>
          <a:xfrm>
            <a:off x="10235406" y="4324472"/>
            <a:ext cx="1290918" cy="715089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Power BI Report</a:t>
            </a:r>
            <a:endParaRPr lang="en-GB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44D399A-F17B-46FF-A844-4553CE47C877}"/>
              </a:ext>
            </a:extLst>
          </p:cNvPr>
          <p:cNvCxnSpPr>
            <a:cxnSpLocks/>
            <a:stCxn id="16" idx="3"/>
            <a:endCxn id="24" idx="1"/>
          </p:cNvCxnSpPr>
          <p:nvPr/>
        </p:nvCxnSpPr>
        <p:spPr>
          <a:xfrm flipV="1">
            <a:off x="7079828" y="4682017"/>
            <a:ext cx="3155578" cy="179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3D066FA-12EB-4CE7-BE53-3F4C8539F39D}"/>
              </a:ext>
            </a:extLst>
          </p:cNvPr>
          <p:cNvSpPr txBox="1"/>
          <p:nvPr/>
        </p:nvSpPr>
        <p:spPr>
          <a:xfrm>
            <a:off x="1665941" y="3498196"/>
            <a:ext cx="22291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User uploads a csv file manually</a:t>
            </a:r>
            <a:endParaRPr lang="en-GB" sz="1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2649B81-44BD-48CE-BA5F-4E87E98BD8B3}"/>
              </a:ext>
            </a:extLst>
          </p:cNvPr>
          <p:cNvSpPr txBox="1"/>
          <p:nvPr/>
        </p:nvSpPr>
        <p:spPr>
          <a:xfrm>
            <a:off x="3155577" y="4736505"/>
            <a:ext cx="25661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System returns a cleaned csv file to the user for immediate download</a:t>
            </a:r>
            <a:endParaRPr lang="en-GB" sz="14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4C4FAA-52BA-4331-BDA3-38F77B278CF1}"/>
              </a:ext>
            </a:extLst>
          </p:cNvPr>
          <p:cNvSpPr txBox="1"/>
          <p:nvPr/>
        </p:nvSpPr>
        <p:spPr>
          <a:xfrm>
            <a:off x="7274908" y="3139837"/>
            <a:ext cx="285521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Python application runs in the background, cleaning data &amp; quarantining data with issues</a:t>
            </a:r>
            <a:endParaRPr lang="en-GB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E3DBF96-ED7B-426E-8D17-D0A7053078B3}"/>
              </a:ext>
            </a:extLst>
          </p:cNvPr>
          <p:cNvSpPr txBox="1"/>
          <p:nvPr/>
        </p:nvSpPr>
        <p:spPr>
          <a:xfrm>
            <a:off x="7079826" y="4699946"/>
            <a:ext cx="315557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System saves cleaned file, quarantined file, &amp; process metrics, to a database for use in reporting</a:t>
            </a:r>
            <a:endParaRPr lang="en-GB" sz="1400" dirty="0"/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95C047CE-D8F9-414F-BFEA-1CC490D8E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663388"/>
            <a:ext cx="10535022" cy="1017244"/>
          </a:xfrm>
        </p:spPr>
        <p:txBody>
          <a:bodyPr/>
          <a:lstStyle/>
          <a:p>
            <a:r>
              <a:rPr lang="en-US" dirty="0"/>
              <a:t>Proposed Solution </a:t>
            </a:r>
            <a:br>
              <a:rPr lang="en-US" dirty="0"/>
            </a:br>
            <a:r>
              <a:rPr lang="en-US" sz="2400" i="1" dirty="0"/>
              <a:t>Process Flow in User Terms</a:t>
            </a:r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298642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ED054CA-22BD-434F-A7E2-9BE260B2C1E1}"/>
              </a:ext>
            </a:extLst>
          </p:cNvPr>
          <p:cNvSpPr txBox="1">
            <a:spLocks/>
          </p:cNvSpPr>
          <p:nvPr/>
        </p:nvSpPr>
        <p:spPr bwMode="gray">
          <a:xfrm>
            <a:off x="1154954" y="663388"/>
            <a:ext cx="10535022" cy="101724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b="0" i="0" kern="120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Proposed Solution </a:t>
            </a:r>
            <a:br>
              <a:rPr lang="en-US" dirty="0"/>
            </a:br>
            <a:r>
              <a:rPr lang="en-US" sz="2400" i="1" dirty="0"/>
              <a:t>Example Power BI Report – General Monitoring</a:t>
            </a:r>
            <a:endParaRPr lang="en-GB" i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DF6903-31A0-470D-8BDB-85E88D5144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533" y="1987272"/>
            <a:ext cx="8458933" cy="469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484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A5CED-7B36-4007-A341-2D8F95EBF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663388"/>
            <a:ext cx="10535022" cy="1017244"/>
          </a:xfrm>
        </p:spPr>
        <p:txBody>
          <a:bodyPr/>
          <a:lstStyle/>
          <a:p>
            <a:r>
              <a:rPr lang="en-US" dirty="0"/>
              <a:t>Proposed Solution </a:t>
            </a:r>
            <a:br>
              <a:rPr lang="en-US" dirty="0"/>
            </a:br>
            <a:r>
              <a:rPr lang="en-US" sz="2400" i="1" dirty="0"/>
              <a:t>Screenshots of Demo Build</a:t>
            </a:r>
            <a:endParaRPr lang="en-GB" i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47EBC8-1D0B-42D5-A9FD-CCA8BBEC6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 Interface</a:t>
            </a:r>
            <a:endParaRPr lang="en-GB" dirty="0"/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990BCF29-99B8-48B8-A8C3-CE5E27468946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 rotWithShape="1">
          <a:blip r:embed="rId2"/>
          <a:srcRect b="37231"/>
          <a:stretch/>
        </p:blipFill>
        <p:spPr>
          <a:xfrm>
            <a:off x="1154954" y="2525433"/>
            <a:ext cx="3050438" cy="1669577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68D47C-DB51-46D5-9753-AC776B9BD80B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>
            <a:normAutofit/>
          </a:bodyPr>
          <a:lstStyle/>
          <a:p>
            <a:r>
              <a:rPr lang="en-US" dirty="0"/>
              <a:t>A web page hosted on a virtual machine. A user accesses via URL and uploads a csv data file.</a:t>
            </a:r>
            <a:endParaRPr lang="en-GB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D962B7C-9D8D-4FBF-A017-53BDD3EF73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Process Output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24931D9-D938-4146-9706-D759E50D5818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>
            <a:normAutofit/>
          </a:bodyPr>
          <a:lstStyle/>
          <a:p>
            <a:r>
              <a:rPr lang="en-US" dirty="0"/>
              <a:t>An example of the output within the process terminal as it cleans &amp; saves the file using python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F035B3D-2979-4561-B3F5-6BAC4EA372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Output for User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BB4CA9C-2B29-4EFD-97BB-D19E52E9C72C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output seen by the user after processing, presenting them with a cleaned csv file to download.</a:t>
            </a:r>
            <a:endParaRPr lang="en-GB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B48305F-72B9-4CAC-B932-8B63B1D9A4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8676" y="2525433"/>
            <a:ext cx="2958823" cy="1858308"/>
          </a:xfrm>
          <a:prstGeom prst="rect">
            <a:avLst/>
          </a:prstGeom>
        </p:spPr>
      </p:pic>
      <p:pic>
        <p:nvPicPr>
          <p:cNvPr id="18" name="Picture Placeholder 12">
            <a:extLst>
              <a:ext uri="{FF2B5EF4-FFF2-40B4-BE49-F238E27FC236}">
                <a16:creationId xmlns:a16="http://schemas.microsoft.com/office/drawing/2014/main" id="{44F618D5-2222-438F-B9B1-E4D4071A4C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0204" b="-1545"/>
          <a:stretch/>
        </p:blipFill>
        <p:spPr>
          <a:xfrm>
            <a:off x="8070783" y="2525433"/>
            <a:ext cx="2987303" cy="1858308"/>
          </a:xfrm>
          <a:prstGeom prst="rect">
            <a:avLst/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838350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69FB4-29FE-453B-8301-553D4331A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Risks &amp; Issues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DFE39-02CD-4CF5-A232-54F9713D8FC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D4C000-9581-479C-8F1F-1EDDEA82523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6989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CC6BB-9702-4434-92D9-AA8FA26AB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SWOT Analysis</a:t>
            </a:r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B3374506-B2F6-4AFA-95DD-DDB2F46102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7614635"/>
              </p:ext>
            </p:extLst>
          </p:nvPr>
        </p:nvGraphicFramePr>
        <p:xfrm>
          <a:off x="519952" y="2603499"/>
          <a:ext cx="11116236" cy="36538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58118">
                  <a:extLst>
                    <a:ext uri="{9D8B030D-6E8A-4147-A177-3AD203B41FA5}">
                      <a16:colId xmlns:a16="http://schemas.microsoft.com/office/drawing/2014/main" val="3973801846"/>
                    </a:ext>
                  </a:extLst>
                </a:gridCol>
                <a:gridCol w="5558118">
                  <a:extLst>
                    <a:ext uri="{9D8B030D-6E8A-4147-A177-3AD203B41FA5}">
                      <a16:colId xmlns:a16="http://schemas.microsoft.com/office/drawing/2014/main" val="3074800354"/>
                    </a:ext>
                  </a:extLst>
                </a:gridCol>
              </a:tblGrid>
              <a:tr h="1826933">
                <a:tc>
                  <a:txBody>
                    <a:bodyPr/>
                    <a:lstStyle/>
                    <a:p>
                      <a:r>
                        <a:rPr lang="en-US" sz="1400" dirty="0"/>
                        <a:t>Strengths</a:t>
                      </a:r>
                    </a:p>
                    <a:p>
                      <a:endParaRPr lang="en-US" sz="1400" dirty="0"/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dirty="0"/>
                        <a:t>Allows scalability for future data files that may be different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dirty="0"/>
                        <a:t>Provides users with options for how the output is used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dirty="0"/>
                        <a:t>Creates a simple end-to-end solution for viewing Library data from manual csv records</a:t>
                      </a:r>
                      <a:endParaRPr lang="en-GB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Weaknesses</a:t>
                      </a:r>
                    </a:p>
                    <a:p>
                      <a:endParaRPr lang="en-US" sz="1400" dirty="0"/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dirty="0"/>
                        <a:t>Currently relies on users regularly inputting csv files – automation would be possible to mitigate this and ensure seamless reporting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dirty="0"/>
                        <a:t>Updates may require short periods of downtime with only 1 database storing the outputs – backups are recommended but this has a cost to consider</a:t>
                      </a:r>
                      <a:endParaRPr lang="en-GB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8270533"/>
                  </a:ext>
                </a:extLst>
              </a:tr>
              <a:tr h="1826933">
                <a:tc>
                  <a:txBody>
                    <a:bodyPr/>
                    <a:lstStyle/>
                    <a:p>
                      <a:r>
                        <a:rPr lang="en-US" sz="1400" dirty="0"/>
                        <a:t>Opportunities</a:t>
                      </a:r>
                    </a:p>
                    <a:p>
                      <a:endParaRPr lang="en-US" sz="1400" dirty="0"/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dirty="0"/>
                        <a:t>Could be developed to work with CRM software and database data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dirty="0"/>
                        <a:t>Can be further developed using Docker swarm to deliver to other libraries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dirty="0"/>
                        <a:t>Can be developed to give users support in improving their data input based on file contents</a:t>
                      </a:r>
                      <a:endParaRPr lang="en-GB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Threats</a:t>
                      </a:r>
                    </a:p>
                    <a:p>
                      <a:endParaRPr lang="en-US" sz="1400" dirty="0"/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dirty="0"/>
                        <a:t>If the library upgrades to a new system/CRM tool, there will be development needed and this could create a gap in reporting availability during transition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1400" dirty="0"/>
                        <a:t>Security on the server/virtual machine needs to be rigorously maintained to prevent threat actors uploading malicious files into the system</a:t>
                      </a:r>
                      <a:endParaRPr lang="en-GB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399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6284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E23749-6998-46CD-A453-059459BA52D3}"/>
              </a:ext>
            </a:extLst>
          </p:cNvPr>
          <p:cNvSpPr txBox="1"/>
          <p:nvPr/>
        </p:nvSpPr>
        <p:spPr>
          <a:xfrm>
            <a:off x="3048000" y="1296377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Build a presentation for the library client with a proposed solution. You must  include:</a:t>
            </a:r>
          </a:p>
          <a:p>
            <a:r>
              <a:rPr lang="en-GB" dirty="0"/>
              <a:t>An Architecture Diagram</a:t>
            </a:r>
          </a:p>
          <a:p>
            <a:r>
              <a:rPr lang="en-GB" dirty="0"/>
              <a:t>Proposed Solution</a:t>
            </a:r>
          </a:p>
          <a:p>
            <a:r>
              <a:rPr lang="en-GB" dirty="0"/>
              <a:t>A </a:t>
            </a:r>
            <a:r>
              <a:rPr lang="en-GB" dirty="0" err="1"/>
              <a:t>PowerBI</a:t>
            </a:r>
            <a:r>
              <a:rPr lang="en-GB" dirty="0"/>
              <a:t> dashboard to track the pipeline runs along with 3 Data Engineering metrics (this can be manual for today).</a:t>
            </a:r>
          </a:p>
          <a:p>
            <a:r>
              <a:rPr lang="en-GB" dirty="0"/>
              <a:t>Demo (if novel)</a:t>
            </a:r>
          </a:p>
          <a:p>
            <a:r>
              <a:rPr lang="en-GB" dirty="0"/>
              <a:t>Risks &amp; Issues</a:t>
            </a:r>
          </a:p>
          <a:p>
            <a:r>
              <a:rPr lang="en-GB" dirty="0"/>
              <a:t>SWAT Analysis</a:t>
            </a:r>
          </a:p>
          <a:p>
            <a:endParaRPr lang="en-GB" dirty="0"/>
          </a:p>
          <a:p>
            <a:r>
              <a:rPr lang="en-GB" dirty="0"/>
              <a:t>Stretch: Demo/Test Docker Swarm and explain how this would fit into the above.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02069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{0A1BF36D-A613-4E59-B9F4-FF52FB7A340C}TF229edf6a-8a49-49ee-a0a6-5037052947485fb3ca0c-bc27bf41d645</Template>
  <TotalTime>212</TotalTime>
  <Words>412</Words>
  <Application>Microsoft Office PowerPoint</Application>
  <PresentationFormat>Widescreen</PresentationFormat>
  <Paragraphs>50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Century Gothic</vt:lpstr>
      <vt:lpstr>Wingdings 3</vt:lpstr>
      <vt:lpstr>Ion Boardroom</vt:lpstr>
      <vt:lpstr>Library Data</vt:lpstr>
      <vt:lpstr>Solution Architecture</vt:lpstr>
      <vt:lpstr>Proposed Solution  Process Flow in User Terms</vt:lpstr>
      <vt:lpstr>PowerPoint Presentation</vt:lpstr>
      <vt:lpstr>Proposed Solution  Screenshots of Demo Build</vt:lpstr>
      <vt:lpstr>Risks &amp; Issues</vt:lpstr>
      <vt:lpstr>SWOT Analysis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Library Data</dc:title>
  <dc:creator>Admin</dc:creator>
  <cp:lastModifiedBy>Admin</cp:lastModifiedBy>
  <cp:revision>8</cp:revision>
  <dcterms:created xsi:type="dcterms:W3CDTF">2026-05-08T09:16:13Z</dcterms:created>
  <dcterms:modified xsi:type="dcterms:W3CDTF">2026-05-08T12:48:30Z</dcterms:modified>
</cp:coreProperties>
</file>